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Process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BFD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 Definition · Data Acquisition · Logic Dev · Change Mgmt · Deployment · Delivery · BAU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SOP: Delivery Process SOP v2.1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200025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325880"/>
            <a:ext cx="73152" cy="868680"/>
          </a:xfrm>
          <a:prstGeom prst="rect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1417320"/>
            <a:ext cx="384048" cy="384048"/>
          </a:xfrm>
          <a:prstGeom prst="ellipse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9264" y="1399032"/>
            <a:ext cx="128701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Intake Request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 rot="5400000">
            <a:off x="2375154" y="1696212"/>
            <a:ext cx="118872" cy="128016"/>
          </a:xfrm>
          <a:prstGeom prst="rtTriangle">
            <a:avLst/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03170" y="1325880"/>
            <a:ext cx="200025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03170" y="1325880"/>
            <a:ext cx="73152" cy="868680"/>
          </a:xfrm>
          <a:prstGeom prst="rect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67762" y="1417320"/>
            <a:ext cx="384048" cy="384048"/>
          </a:xfrm>
          <a:prstGeom prst="ellipse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6776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106674" y="1399032"/>
            <a:ext cx="128701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/ Requirement Definition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 rot="5400000">
            <a:off x="4512564" y="1696212"/>
            <a:ext cx="118872" cy="128016"/>
          </a:xfrm>
          <a:prstGeom prst="rtTriangle">
            <a:avLst/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40580" y="1325880"/>
            <a:ext cx="200025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40580" y="1325880"/>
            <a:ext cx="73152" cy="868680"/>
          </a:xfrm>
          <a:prstGeom prst="rect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05172" y="1417320"/>
            <a:ext cx="384048" cy="384048"/>
          </a:xfrm>
          <a:prstGeom prst="ellipse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517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244084" y="1399032"/>
            <a:ext cx="128701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Acquisition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 rot="5400000">
            <a:off x="6649974" y="1696212"/>
            <a:ext cx="118872" cy="128016"/>
          </a:xfrm>
          <a:prstGeom prst="rtTriangle">
            <a:avLst/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77990" y="1325880"/>
            <a:ext cx="200025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77990" y="1325880"/>
            <a:ext cx="73152" cy="868680"/>
          </a:xfrm>
          <a:prstGeom prst="rect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42582" y="1417320"/>
            <a:ext cx="384048" cy="384048"/>
          </a:xfrm>
          <a:prstGeom prst="ellipse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4258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381494" y="1399032"/>
            <a:ext cx="128701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 Dev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 rot="10800000">
            <a:off x="8641080" y="2235708"/>
            <a:ext cx="146304" cy="146304"/>
          </a:xfrm>
          <a:prstGeom prst="rtTriangle">
            <a:avLst/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2423160"/>
            <a:ext cx="157276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5760" y="2423160"/>
            <a:ext cx="73152" cy="868680"/>
          </a:xfrm>
          <a:prstGeom prst="rect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30352" y="2514600"/>
            <a:ext cx="384048" cy="384048"/>
          </a:xfrm>
          <a:prstGeom prst="ellipse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0352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69264" y="2496312"/>
            <a:ext cx="85953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Spec Doc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 rot="5400000">
            <a:off x="1947672" y="2793492"/>
            <a:ext cx="118872" cy="128016"/>
          </a:xfrm>
          <a:prstGeom prst="rtTriangle">
            <a:avLst/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75688" y="2423160"/>
            <a:ext cx="157276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075688" y="2423160"/>
            <a:ext cx="73152" cy="868680"/>
          </a:xfrm>
          <a:prstGeom prst="rect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240280" y="2514600"/>
            <a:ext cx="384048" cy="384048"/>
          </a:xfrm>
          <a:prstGeom prst="ellipse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24028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679192" y="2496312"/>
            <a:ext cx="85953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Validation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 rot="5400000">
            <a:off x="3657600" y="2793492"/>
            <a:ext cx="118872" cy="128016"/>
          </a:xfrm>
          <a:prstGeom prst="rtTriangle">
            <a:avLst/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785616" y="2423160"/>
            <a:ext cx="157276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785616" y="2423160"/>
            <a:ext cx="73152" cy="868680"/>
          </a:xfrm>
          <a:prstGeom prst="rect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950208" y="2514600"/>
            <a:ext cx="384048" cy="384048"/>
          </a:xfrm>
          <a:prstGeom prst="ellipse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50208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4389120" y="2496312"/>
            <a:ext cx="85953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 rot="5400000">
            <a:off x="5367528" y="2793492"/>
            <a:ext cx="118872" cy="128016"/>
          </a:xfrm>
          <a:prstGeom prst="rtTriangle">
            <a:avLst/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495544" y="2423160"/>
            <a:ext cx="157276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495544" y="2423160"/>
            <a:ext cx="73152" cy="868680"/>
          </a:xfrm>
          <a:prstGeom prst="rect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660136" y="2514600"/>
            <a:ext cx="384048" cy="384048"/>
          </a:xfrm>
          <a:prstGeom prst="ellipse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660136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6099048" y="2496312"/>
            <a:ext cx="85953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 rot="5400000">
            <a:off x="7077456" y="2793492"/>
            <a:ext cx="118872" cy="128016"/>
          </a:xfrm>
          <a:prstGeom prst="rtTriangle">
            <a:avLst/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205472" y="2423160"/>
            <a:ext cx="157276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205472" y="2423160"/>
            <a:ext cx="73152" cy="868680"/>
          </a:xfrm>
          <a:prstGeom prst="rect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370064" y="2514600"/>
            <a:ext cx="384048" cy="384048"/>
          </a:xfrm>
          <a:prstGeom prst="ellipse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70064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7808976" y="2496312"/>
            <a:ext cx="85953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/ Document Output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365760" y="3611880"/>
            <a:ext cx="8412480" cy="1188720"/>
          </a:xfrm>
          <a:prstGeom prst="rect">
            <a:avLst/>
          </a:prstGeom>
          <a:solidFill>
            <a:srgbClr val="F4F6F8"/>
          </a:solidFill>
          <a:ln w="6350">
            <a:solidFill>
              <a:srgbClr val="D6DBE2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02920" y="3657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Artifacts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502920" y="3904488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  Jira intake ticket · DCT</a:t>
            </a:r>
            <a:endParaRPr lang="en-US" sz="8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Scope &amp; Requirements doc · SOW</a:t>
            </a:r>
            <a:endParaRPr lang="en-US" sz="8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Extracted datasets (CA AZ) · extraction logs</a:t>
            </a:r>
            <a:endParaRPr lang="en-US" sz="8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Python-SQL code in Git · Databricks notebooks</a:t>
            </a:r>
            <a:endParaRPr lang="en-US" sz="8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Tech Spec doc · source-to-report mapping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4709160" y="3904488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Output validation report · static sheet</a:t>
            </a:r>
            <a:endParaRPr lang="en-US" sz="8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 PO APPROVED Jira state · approval record</a:t>
            </a:r>
            <a:endParaRPr lang="en-US" sz="8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 Deployment log · release record</a:t>
            </a:r>
            <a:endParaRPr lang="en-US" sz="8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 Final output files · delivery confirmation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36576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FCRM Risk Assessment FY2025 · MCC Team · Internal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5120640" y="48508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Process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&amp; Quality Assurance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BFD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DQ Checks · Reconciliation · Peer Review · Output Verification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SOP: QA &amp; Governance Standard SOP v2.1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200025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325880"/>
            <a:ext cx="73152" cy="868680"/>
          </a:xfrm>
          <a:prstGeom prst="rect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1417320"/>
            <a:ext cx="384048" cy="384048"/>
          </a:xfrm>
          <a:prstGeom prst="ellipse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9264" y="1399032"/>
            <a:ext cx="128701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Planning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 rot="5400000">
            <a:off x="2375154" y="1696212"/>
            <a:ext cx="118872" cy="128016"/>
          </a:xfrm>
          <a:prstGeom prst="rtTriangle">
            <a:avLst/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03170" y="1325880"/>
            <a:ext cx="200025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03170" y="1325880"/>
            <a:ext cx="73152" cy="868680"/>
          </a:xfrm>
          <a:prstGeom prst="rect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67762" y="1417320"/>
            <a:ext cx="384048" cy="384048"/>
          </a:xfrm>
          <a:prstGeom prst="ellipse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6776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106674" y="1399032"/>
            <a:ext cx="128701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Quality Checks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 rot="5400000">
            <a:off x="4512564" y="1696212"/>
            <a:ext cx="118872" cy="128016"/>
          </a:xfrm>
          <a:prstGeom prst="rtTriangle">
            <a:avLst/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40580" y="1325880"/>
            <a:ext cx="200025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40580" y="1325880"/>
            <a:ext cx="73152" cy="868680"/>
          </a:xfrm>
          <a:prstGeom prst="rect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05172" y="1417320"/>
            <a:ext cx="384048" cy="384048"/>
          </a:xfrm>
          <a:prstGeom prst="ellipse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517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244084" y="1399032"/>
            <a:ext cx="128701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Reconciliation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 rot="5400000">
            <a:off x="6649974" y="1696212"/>
            <a:ext cx="118872" cy="128016"/>
          </a:xfrm>
          <a:prstGeom prst="rtTriangle">
            <a:avLst/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77990" y="1325880"/>
            <a:ext cx="200025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77990" y="1325880"/>
            <a:ext cx="73152" cy="868680"/>
          </a:xfrm>
          <a:prstGeom prst="rect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42582" y="1417320"/>
            <a:ext cx="384048" cy="384048"/>
          </a:xfrm>
          <a:prstGeom prst="ellipse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4258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381494" y="1399032"/>
            <a:ext cx="128701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Reasonability Analysis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 rot="10800000">
            <a:off x="8641080" y="2235708"/>
            <a:ext cx="146304" cy="146304"/>
          </a:xfrm>
          <a:prstGeom prst="rtTriangle">
            <a:avLst/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2423160"/>
            <a:ext cx="200025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5760" y="2423160"/>
            <a:ext cx="73152" cy="868680"/>
          </a:xfrm>
          <a:prstGeom prst="rect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30352" y="2514600"/>
            <a:ext cx="384048" cy="384048"/>
          </a:xfrm>
          <a:prstGeom prst="ellipse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0352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69264" y="2496312"/>
            <a:ext cx="128701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 Review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 rot="5400000">
            <a:off x="2375154" y="2793492"/>
            <a:ext cx="118872" cy="128016"/>
          </a:xfrm>
          <a:prstGeom prst="rtTriangle">
            <a:avLst/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03170" y="2423160"/>
            <a:ext cx="200025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503170" y="2423160"/>
            <a:ext cx="73152" cy="868680"/>
          </a:xfrm>
          <a:prstGeom prst="rect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667762" y="2514600"/>
            <a:ext cx="384048" cy="384048"/>
          </a:xfrm>
          <a:prstGeom prst="ellipse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67762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106674" y="2496312"/>
            <a:ext cx="128701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Verification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 rot="5400000">
            <a:off x="4512564" y="2793492"/>
            <a:ext cx="118872" cy="128016"/>
          </a:xfrm>
          <a:prstGeom prst="rtTriangle">
            <a:avLst/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40580" y="2423160"/>
            <a:ext cx="200025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40580" y="2423160"/>
            <a:ext cx="73152" cy="868680"/>
          </a:xfrm>
          <a:prstGeom prst="rect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805172" y="2514600"/>
            <a:ext cx="384048" cy="384048"/>
          </a:xfrm>
          <a:prstGeom prst="ellipse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05172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5244084" y="2496312"/>
            <a:ext cx="128701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Logging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 rot="5400000">
            <a:off x="6649974" y="2793492"/>
            <a:ext cx="118872" cy="128016"/>
          </a:xfrm>
          <a:prstGeom prst="rtTriangle">
            <a:avLst/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777990" y="2423160"/>
            <a:ext cx="200025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777990" y="2423160"/>
            <a:ext cx="73152" cy="868680"/>
          </a:xfrm>
          <a:prstGeom prst="rect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942582" y="2514600"/>
            <a:ext cx="384048" cy="384048"/>
          </a:xfrm>
          <a:prstGeom prst="ellipse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942582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7381494" y="2496312"/>
            <a:ext cx="128701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Sign-Off &amp; Approval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365760" y="3611880"/>
            <a:ext cx="8412480" cy="1188720"/>
          </a:xfrm>
          <a:prstGeom prst="rect">
            <a:avLst/>
          </a:prstGeom>
          <a:solidFill>
            <a:srgbClr val="F4F6F8"/>
          </a:solidFill>
          <a:ln w="6350">
            <a:solidFill>
              <a:srgbClr val="D6DBE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02920" y="3657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Artifacts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502920" y="3904488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Validation Plan doc · Risk Assessment Matrix</a:t>
            </a:r>
            <a:endParaRPr lang="en-US" sz="8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DQ check results · availability_pct in cde_da_by_lob_segment</a:t>
            </a:r>
            <a:endParaRPr lang="en-US" sz="8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Reconciliation reports · variance analysis logs</a:t>
            </a:r>
            <a:endParaRPr lang="en-US" sz="8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Trend analysis · outlier detection log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4709160" y="3904488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Peer review sign-off · AU REVIEW APPROVAL Jira state</a:t>
            </a:r>
            <a:endParaRPr lang="en-US" sz="8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 Output verification report · format compliance log</a:t>
            </a:r>
            <a:endParaRPr lang="en-US" sz="8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 RAID log entry · BLOCKED Jira ticket</a:t>
            </a:r>
            <a:endParaRPr lang="en-US" sz="8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 Signed approval record · final validation report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36576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FCRM Risk Assessment FY2025 · MCC Team · Internal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120640" y="48508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&amp; Quality Assurance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Sourcing &amp; Lineage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BFD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Identification · Access · Extraction · Lineage · Retention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SOP: Data Sourcing &amp; Lineage SOP v2.1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200025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325880"/>
            <a:ext cx="73152" cy="868680"/>
          </a:xfrm>
          <a:prstGeom prst="rect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1417320"/>
            <a:ext cx="384048" cy="384048"/>
          </a:xfrm>
          <a:prstGeom prst="ellipse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9264" y="1399032"/>
            <a:ext cx="128701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Identification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 rot="5400000">
            <a:off x="2375154" y="1696212"/>
            <a:ext cx="118872" cy="128016"/>
          </a:xfrm>
          <a:prstGeom prst="rtTriangle">
            <a:avLst/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03170" y="1325880"/>
            <a:ext cx="200025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03170" y="1325880"/>
            <a:ext cx="73152" cy="868680"/>
          </a:xfrm>
          <a:prstGeom prst="rect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67762" y="1417320"/>
            <a:ext cx="384048" cy="384048"/>
          </a:xfrm>
          <a:prstGeom prst="ellipse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6776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106674" y="1399032"/>
            <a:ext cx="128701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Enablement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 rot="5400000">
            <a:off x="4512564" y="1696212"/>
            <a:ext cx="118872" cy="128016"/>
          </a:xfrm>
          <a:prstGeom prst="rtTriangle">
            <a:avLst/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40580" y="1325880"/>
            <a:ext cx="200025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40580" y="1325880"/>
            <a:ext cx="73152" cy="868680"/>
          </a:xfrm>
          <a:prstGeom prst="rect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05172" y="1417320"/>
            <a:ext cx="384048" cy="384048"/>
          </a:xfrm>
          <a:prstGeom prst="ellipse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517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244084" y="1399032"/>
            <a:ext cx="128701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Extraction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 rot="5400000">
            <a:off x="6649974" y="1696212"/>
            <a:ext cx="118872" cy="128016"/>
          </a:xfrm>
          <a:prstGeom prst="rtTriangle">
            <a:avLst/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77990" y="1325880"/>
            <a:ext cx="200025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77990" y="1325880"/>
            <a:ext cx="73152" cy="868680"/>
          </a:xfrm>
          <a:prstGeom prst="rect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42582" y="1417320"/>
            <a:ext cx="384048" cy="384048"/>
          </a:xfrm>
          <a:prstGeom prst="ellipse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4258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381494" y="1399032"/>
            <a:ext cx="128701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Understanding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 rot="10800000">
            <a:off x="8641080" y="2235708"/>
            <a:ext cx="146304" cy="146304"/>
          </a:xfrm>
          <a:prstGeom prst="rtTriangle">
            <a:avLst/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2423160"/>
            <a:ext cx="27127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5760" y="2423160"/>
            <a:ext cx="73152" cy="868680"/>
          </a:xfrm>
          <a:prstGeom prst="rect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30352" y="2514600"/>
            <a:ext cx="384048" cy="384048"/>
          </a:xfrm>
          <a:prstGeom prst="ellipse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0352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69264" y="2496312"/>
            <a:ext cx="199948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Lineage Documentation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 rot="5400000">
            <a:off x="3087624" y="2793492"/>
            <a:ext cx="118872" cy="128016"/>
          </a:xfrm>
          <a:prstGeom prst="rtTriangle">
            <a:avLst/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15640" y="2423160"/>
            <a:ext cx="27127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15640" y="2423160"/>
            <a:ext cx="73152" cy="868680"/>
          </a:xfrm>
          <a:prstGeom prst="rect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0232" y="2514600"/>
            <a:ext cx="384048" cy="384048"/>
          </a:xfrm>
          <a:prstGeom prst="ellipse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80232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819144" y="2496312"/>
            <a:ext cx="199948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Refresh Management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 rot="5400000">
            <a:off x="5937504" y="2793492"/>
            <a:ext cx="118872" cy="128016"/>
          </a:xfrm>
          <a:prstGeom prst="rtTriangle">
            <a:avLst/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65520" y="2423160"/>
            <a:ext cx="27127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65520" y="2423160"/>
            <a:ext cx="73152" cy="868680"/>
          </a:xfrm>
          <a:prstGeom prst="rect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230112" y="2514600"/>
            <a:ext cx="384048" cy="384048"/>
          </a:xfrm>
          <a:prstGeom prst="ellipse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30112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669024" y="2496312"/>
            <a:ext cx="199948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Retention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365760" y="3611880"/>
            <a:ext cx="8412480" cy="1188720"/>
          </a:xfrm>
          <a:prstGeom prst="rect">
            <a:avLst/>
          </a:prstGeom>
          <a:solidFill>
            <a:srgbClr val="F4F6F8"/>
          </a:solidFill>
          <a:ln w="6350">
            <a:solidFill>
              <a:srgbClr val="D6DBE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02920" y="3657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Artifacts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502920" y="3904488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Master_Data_source_FY2025_Segment.xlsx</a:t>
            </a:r>
            <a:endParaRPr lang="en-US" sz="8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PIA approval emails · access approval log</a:t>
            </a:r>
            <a:endParaRPr lang="en-US" sz="8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Extracted dataset files · extraction scripts</a:t>
            </a:r>
            <a:endParaRPr lang="en-US" sz="8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Profiling reports · approved metadata templates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4709160" y="3904488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Source-to-report mapping · field-level lineage (WIP)</a:t>
            </a:r>
            <a:endParaRPr lang="en-US" sz="8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 Refresh activity log · refresh validation report</a:t>
            </a:r>
            <a:endParaRPr lang="en-US" sz="8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 Data retention statement (no defined policy — open gap)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36576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FCRM Risk Assessment FY2025 · MCC Team · Internal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120640" y="48508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Sourcing &amp; Lineage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&amp; Issue Management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BFD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Logging · Assumptions · Issue Mgmt · Escalation · Risk Acceptance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SOP: QA &amp; Governance Standard SOP v2.1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200025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325880"/>
            <a:ext cx="73152" cy="868680"/>
          </a:xfrm>
          <a:prstGeom prst="rect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1417320"/>
            <a:ext cx="384048" cy="384048"/>
          </a:xfrm>
          <a:prstGeom prst="ellipse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9264" y="1399032"/>
            <a:ext cx="128701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Logging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 rot="5400000">
            <a:off x="2375154" y="1696212"/>
            <a:ext cx="118872" cy="128016"/>
          </a:xfrm>
          <a:prstGeom prst="rtTriangle">
            <a:avLst/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03170" y="1325880"/>
            <a:ext cx="200025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03170" y="1325880"/>
            <a:ext cx="73152" cy="868680"/>
          </a:xfrm>
          <a:prstGeom prst="rect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67762" y="1417320"/>
            <a:ext cx="384048" cy="384048"/>
          </a:xfrm>
          <a:prstGeom prst="ellipse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6776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106674" y="1399032"/>
            <a:ext cx="128701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Assumption Tracking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 rot="5400000">
            <a:off x="4512564" y="1696212"/>
            <a:ext cx="118872" cy="128016"/>
          </a:xfrm>
          <a:prstGeom prst="rtTriangle">
            <a:avLst/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40580" y="1325880"/>
            <a:ext cx="200025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40580" y="1325880"/>
            <a:ext cx="73152" cy="868680"/>
          </a:xfrm>
          <a:prstGeom prst="rect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05172" y="1417320"/>
            <a:ext cx="384048" cy="384048"/>
          </a:xfrm>
          <a:prstGeom prst="ellipse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517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244084" y="1399032"/>
            <a:ext cx="128701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Logging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 rot="5400000">
            <a:off x="6649974" y="1696212"/>
            <a:ext cx="118872" cy="128016"/>
          </a:xfrm>
          <a:prstGeom prst="rtTriangle">
            <a:avLst/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77990" y="1325880"/>
            <a:ext cx="200025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77990" y="1325880"/>
            <a:ext cx="73152" cy="868680"/>
          </a:xfrm>
          <a:prstGeom prst="rect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42582" y="1417320"/>
            <a:ext cx="384048" cy="384048"/>
          </a:xfrm>
          <a:prstGeom prst="ellipse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4258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381494" y="1399032"/>
            <a:ext cx="128701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Severity Assessment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 rot="10800000">
            <a:off x="8641080" y="2235708"/>
            <a:ext cx="146304" cy="146304"/>
          </a:xfrm>
          <a:prstGeom prst="rtTriangle">
            <a:avLst/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2423160"/>
            <a:ext cx="200025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5760" y="2423160"/>
            <a:ext cx="73152" cy="868680"/>
          </a:xfrm>
          <a:prstGeom prst="rect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30352" y="2514600"/>
            <a:ext cx="384048" cy="384048"/>
          </a:xfrm>
          <a:prstGeom prst="ellipse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0352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69264" y="2496312"/>
            <a:ext cx="128701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Escalation Pathways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 rot="5400000">
            <a:off x="2375154" y="2793492"/>
            <a:ext cx="118872" cy="128016"/>
          </a:xfrm>
          <a:prstGeom prst="rtTriangle">
            <a:avLst/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03170" y="2423160"/>
            <a:ext cx="200025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503170" y="2423160"/>
            <a:ext cx="73152" cy="868680"/>
          </a:xfrm>
          <a:prstGeom prst="rect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667762" y="2514600"/>
            <a:ext cx="384048" cy="384048"/>
          </a:xfrm>
          <a:prstGeom prst="ellipse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67762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106674" y="2496312"/>
            <a:ext cx="128701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&amp; Unblocking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 rot="5400000">
            <a:off x="4512564" y="2793492"/>
            <a:ext cx="118872" cy="128016"/>
          </a:xfrm>
          <a:prstGeom prst="rtTriangle">
            <a:avLst/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40580" y="2423160"/>
            <a:ext cx="200025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40580" y="2423160"/>
            <a:ext cx="73152" cy="868680"/>
          </a:xfrm>
          <a:prstGeom prst="rect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805172" y="2514600"/>
            <a:ext cx="384048" cy="384048"/>
          </a:xfrm>
          <a:prstGeom prst="ellipse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05172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5244084" y="2496312"/>
            <a:ext cx="128701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Acceptance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 rot="5400000">
            <a:off x="6649974" y="2793492"/>
            <a:ext cx="118872" cy="128016"/>
          </a:xfrm>
          <a:prstGeom prst="rtTriangle">
            <a:avLst/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777990" y="2423160"/>
            <a:ext cx="200025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777990" y="2423160"/>
            <a:ext cx="73152" cy="868680"/>
          </a:xfrm>
          <a:prstGeom prst="rect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942582" y="2514600"/>
            <a:ext cx="384048" cy="384048"/>
          </a:xfrm>
          <a:prstGeom prst="ellipse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942582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7381494" y="2496312"/>
            <a:ext cx="128701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Decommissioning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365760" y="3611880"/>
            <a:ext cx="8412480" cy="1188720"/>
          </a:xfrm>
          <a:prstGeom prst="rect">
            <a:avLst/>
          </a:prstGeom>
          <a:solidFill>
            <a:srgbClr val="F4F6F8"/>
          </a:solidFill>
          <a:ln w="6350">
            <a:solidFill>
              <a:srgbClr val="D6DBE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02920" y="3657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Artifacts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502920" y="3904488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Jira decision tickets (BUSINESS LOGIC DESIGN DEF)</a:t>
            </a:r>
            <a:endParaRPr lang="en-US" sz="8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Jira assumption tickets (METRIC DEFINITION CLARIFICATION)</a:t>
            </a:r>
            <a:endParaRPr lang="en-US" sz="8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RAID log entry · BLOCKED Jira ticket</a:t>
            </a:r>
            <a:endParaRPr lang="en-US" sz="8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RAID log with P1/P2/P3 classification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4709160" y="3904488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Jira escalation comments · 2LOD notification</a:t>
            </a:r>
            <a:endParaRPr lang="en-US" sz="8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 RAID log closure · Jira state off BLOCKED</a:t>
            </a:r>
            <a:endParaRPr lang="en-US" sz="8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 Risk acceptance record · NOT AVAILABLE Jira state</a:t>
            </a:r>
            <a:endParaRPr lang="en-US" sz="8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 NO LONGER REQUIRED / NOT APPLICABLE state · SOW change log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36576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FCRM Risk Assessment FY2025 · MCC Team · Internal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120640" y="48508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&amp; Issue Management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Control &amp; Security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BFD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PIAs · Access Control · Retention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SOP: Access Control SOP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27127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325880"/>
            <a:ext cx="73152" cy="868680"/>
          </a:xfrm>
          <a:prstGeom prst="rect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1417320"/>
            <a:ext cx="384048" cy="384048"/>
          </a:xfrm>
          <a:prstGeom prst="ellipse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9264" y="1399032"/>
            <a:ext cx="199948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PIA Initiation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 rot="5400000">
            <a:off x="3087624" y="1696212"/>
            <a:ext cx="118872" cy="128016"/>
          </a:xfrm>
          <a:prstGeom prst="rtTriangle">
            <a:avLst/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15640" y="1325880"/>
            <a:ext cx="27127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15640" y="1325880"/>
            <a:ext cx="73152" cy="868680"/>
          </a:xfrm>
          <a:prstGeom prst="rect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80232" y="1417320"/>
            <a:ext cx="384048" cy="384048"/>
          </a:xfrm>
          <a:prstGeom prst="ellipse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023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819144" y="1399032"/>
            <a:ext cx="199948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Request &amp; Approval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 rot="5400000">
            <a:off x="5937504" y="1696212"/>
            <a:ext cx="118872" cy="128016"/>
          </a:xfrm>
          <a:prstGeom prst="rtTriangle">
            <a:avLst/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5520" y="1325880"/>
            <a:ext cx="27127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65520" y="1325880"/>
            <a:ext cx="73152" cy="868680"/>
          </a:xfrm>
          <a:prstGeom prst="rect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30112" y="1417320"/>
            <a:ext cx="384048" cy="384048"/>
          </a:xfrm>
          <a:prstGeom prst="ellipse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3011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669024" y="1399032"/>
            <a:ext cx="199948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Control Matrix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65760" y="2834640"/>
            <a:ext cx="8412480" cy="1965960"/>
          </a:xfrm>
          <a:prstGeom prst="rect">
            <a:avLst/>
          </a:prstGeom>
          <a:solidFill>
            <a:srgbClr val="F4F6F8"/>
          </a:solidFill>
          <a:ln w="6350">
            <a:solidFill>
              <a:srgbClr val="D6DBE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28803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Artifacts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02920" y="3127248"/>
            <a:ext cx="4023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Canada Privacy Impact Assessment (PIA)</a:t>
            </a:r>
            <a:endParaRPr lang="en-US" sz="8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DAC Submitted PIAs Canada · ADIDO SST Data FY2025 CA · Jira PIA Status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709160" y="3127248"/>
            <a:ext cx="4023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Canada Foundational Tracker · segregation-of-duties record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36576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FCRM Risk Assessment FY2025 · MCC Team · Internal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120640" y="48508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Control &amp; Security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Management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BFD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Tickets · Git Version Control · Approvals · Deployment · Rollback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SOP: Change Management SOP v1.1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27127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325880"/>
            <a:ext cx="73152" cy="868680"/>
          </a:xfrm>
          <a:prstGeom prst="rect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1417320"/>
            <a:ext cx="384048" cy="384048"/>
          </a:xfrm>
          <a:prstGeom prst="ellipse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9264" y="1399032"/>
            <a:ext cx="199948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Request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 rot="5400000">
            <a:off x="3087624" y="1696212"/>
            <a:ext cx="118872" cy="128016"/>
          </a:xfrm>
          <a:prstGeom prst="rtTriangle">
            <a:avLst/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15640" y="1325880"/>
            <a:ext cx="27127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15640" y="1325880"/>
            <a:ext cx="73152" cy="868680"/>
          </a:xfrm>
          <a:prstGeom prst="rect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80232" y="1417320"/>
            <a:ext cx="384048" cy="384048"/>
          </a:xfrm>
          <a:prstGeom prst="ellipse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023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819144" y="1399032"/>
            <a:ext cx="199948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Assessment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 rot="5400000">
            <a:off x="5937504" y="1696212"/>
            <a:ext cx="118872" cy="128016"/>
          </a:xfrm>
          <a:prstGeom prst="rtTriangle">
            <a:avLst/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5520" y="1325880"/>
            <a:ext cx="27127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65520" y="1325880"/>
            <a:ext cx="73152" cy="868680"/>
          </a:xfrm>
          <a:prstGeom prst="rect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30112" y="1417320"/>
            <a:ext cx="384048" cy="384048"/>
          </a:xfrm>
          <a:prstGeom prst="ellipse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3011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669024" y="1399032"/>
            <a:ext cx="199948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Approval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 rot="10800000">
            <a:off x="8641080" y="2235708"/>
            <a:ext cx="146304" cy="146304"/>
          </a:xfrm>
          <a:prstGeom prst="rtTriangle">
            <a:avLst/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23160"/>
            <a:ext cx="27127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" y="2423160"/>
            <a:ext cx="73152" cy="868680"/>
          </a:xfrm>
          <a:prstGeom prst="rect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" y="2514600"/>
            <a:ext cx="384048" cy="384048"/>
          </a:xfrm>
          <a:prstGeom prst="ellipse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0352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69264" y="2496312"/>
            <a:ext cx="199948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 Control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 rot="5400000">
            <a:off x="3087624" y="2793492"/>
            <a:ext cx="118872" cy="128016"/>
          </a:xfrm>
          <a:prstGeom prst="rtTriangle">
            <a:avLst/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15640" y="2423160"/>
            <a:ext cx="27127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15640" y="2423160"/>
            <a:ext cx="73152" cy="868680"/>
          </a:xfrm>
          <a:prstGeom prst="rect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0232" y="2514600"/>
            <a:ext cx="384048" cy="384048"/>
          </a:xfrm>
          <a:prstGeom prst="ellipse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80232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819144" y="2496312"/>
            <a:ext cx="199948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 Update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 rot="5400000">
            <a:off x="5937504" y="2793492"/>
            <a:ext cx="118872" cy="128016"/>
          </a:xfrm>
          <a:prstGeom prst="rtTriangle">
            <a:avLst/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65520" y="2423160"/>
            <a:ext cx="27127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65520" y="2423160"/>
            <a:ext cx="73152" cy="868680"/>
          </a:xfrm>
          <a:prstGeom prst="rect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230112" y="2514600"/>
            <a:ext cx="384048" cy="384048"/>
          </a:xfrm>
          <a:prstGeom prst="ellipse">
            <a:avLst/>
          </a:prstGeom>
          <a:solidFill>
            <a:srgbClr val="0096A0"/>
          </a:solidFill>
          <a:ln w="12700">
            <a:solidFill>
              <a:srgbClr val="0096A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30112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669024" y="2496312"/>
            <a:ext cx="199948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Change Logging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365760" y="3611880"/>
            <a:ext cx="8412480" cy="1188720"/>
          </a:xfrm>
          <a:prstGeom prst="rect">
            <a:avLst/>
          </a:prstGeom>
          <a:solidFill>
            <a:srgbClr val="F4F6F8"/>
          </a:solidFill>
          <a:ln w="6350">
            <a:solidFill>
              <a:srgbClr val="D6DBE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2920" y="3657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Artifacts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02920" y="3904488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Jira change ticket (BUSINESS LOGIC DESIGN DEF)</a:t>
            </a:r>
            <a:endParaRPr lang="en-US" sz="8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Impact assessment notes in Jira</a:t>
            </a:r>
            <a:endParaRPr lang="en-US" sz="8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PO CONCURRENCE Jira state · approver sign-off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709160" y="3904488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Git commit (TD-Universe/RAFY2025_CA) · validated Databricks query</a:t>
            </a:r>
            <a:endParaRPr lang="en-US" sz="8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Updated Excel mastersheet · reviewer sign-off · PO APPROVED</a:t>
            </a:r>
            <a:endParaRPr lang="en-US" sz="8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A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 SOW v1.32 weekly change log (Richard Ng)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6576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FCRM Risk Assessment FY2025 · MCC Team · Internal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5120640" y="48508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Management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FCRM RA FY2025 — Process Workflows</dc:title>
  <dc:subject>PptxGenJS Presentation</dc:subject>
  <dc:creator>MCC Team</dc:creator>
  <cp:lastModifiedBy>MCC Team</cp:lastModifiedBy>
  <cp:revision>1</cp:revision>
  <dcterms:created xsi:type="dcterms:W3CDTF">2026-05-27T19:45:17Z</dcterms:created>
  <dcterms:modified xsi:type="dcterms:W3CDTF">2026-05-27T19:45:17Z</dcterms:modified>
</cp:coreProperties>
</file>