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Process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FD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Definition · Data Acquisition · Logic Dev · Change Mgmt · Deployment · Delivery · BAU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SOP: Delivery Process SOP v2.1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Request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2601468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Jira 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rot="5400000">
            <a:off x="237515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0317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0317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776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6776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667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Requirement Definition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6776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Scope and Requirements Document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67762" y="2601468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Scope Statement of Work (Live).docx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rot="5400000">
            <a:off x="451256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058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058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517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517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4408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Acquisition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517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Notebooks or ExtractionScripts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rot="5400000">
            <a:off x="664997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7799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7799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258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258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8149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Dev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258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Notebooks or Code Files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rot="10800000">
            <a:off x="8641080" y="2990088"/>
            <a:ext cx="146304" cy="146304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177540"/>
            <a:ext cx="157276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9264" y="325069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 Doc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" y="37993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DCT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 rot="5400000">
            <a:off x="1947672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75688" y="3177540"/>
            <a:ext cx="157276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75688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40280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40280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679192" y="325069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240280" y="37993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DCT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40280" y="40187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DEV Query Static Sheet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 rot="5400000">
            <a:off x="3657600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85616" y="3177540"/>
            <a:ext cx="157276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85616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950208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50208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389120" y="325069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950208" y="37993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Jira Board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 rot="5400000">
            <a:off x="5367528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95544" y="3177540"/>
            <a:ext cx="157276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95544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60136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0136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099048" y="325069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660136" y="37993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Evidence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 rot="5400000">
            <a:off x="7077456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05472" y="3177540"/>
            <a:ext cx="157276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05472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0064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0064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7808976" y="325069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/ Document Output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370064" y="37993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Evidence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65760" y="48508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FCRM Risk Assessment FY2025 · MCC Team · Internal · Right-click any → label to add a hyperlink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20640" y="48508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Process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Quality Assurance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FD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 Checks · Reconciliation · Peer Review · Output Verification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SOP: QA &amp; Governance Standard SOP v2.1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Planning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382012"/>
            <a:ext cx="16893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artifacts:  </a:t>
            </a:r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Plan, Risk Assessment Matrix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 rot="5400000">
            <a:off x="237515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317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0317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776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776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667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Checks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67762" y="2382012"/>
            <a:ext cx="16893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artifacts:  </a:t>
            </a:r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 % (availability_pct), queries used, profiling reports, issue log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 rot="5400000">
            <a:off x="451256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058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058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517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517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4408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5172" y="2382012"/>
            <a:ext cx="16893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artifacts:  </a:t>
            </a:r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reports, variance analysis, record counts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 rot="5400000">
            <a:off x="664997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7799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7799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258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258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8149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Reasonability 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2582" y="2382012"/>
            <a:ext cx="16893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artifacts:  </a:t>
            </a:r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analysis, outlier detection, threshold validation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 rot="10800000">
            <a:off x="8641080" y="2990088"/>
            <a:ext cx="146304" cy="146304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17754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9264" y="325069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Review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" y="3799332"/>
            <a:ext cx="16893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artifacts:  </a:t>
            </a:r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review sign-off, review comments log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rot="5400000">
            <a:off x="2375154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03170" y="317754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0317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6776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6776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106674" y="325069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Verification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667762" y="3799332"/>
            <a:ext cx="16893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artifacts:  </a:t>
            </a:r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verification report, format compliance log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 rot="5400000">
            <a:off x="4512564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40580" y="317754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4058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517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517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44084" y="325069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Logging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05172" y="3799332"/>
            <a:ext cx="16893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artifacts:  </a:t>
            </a:r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RAID log entry, BLOCKED Jira ticket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 rot="5400000">
            <a:off x="6649974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77990" y="317754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7799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4258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258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381494" y="325069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&amp; Approval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42582" y="3799332"/>
            <a:ext cx="16893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artifacts:  </a:t>
            </a:r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approval record, final validation report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65760" y="48508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FCRM Risk Assessment FY2025 · MCC Team · Internal · Right-click any → label to add a hyperlink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48508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Quality Assurance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Sourcing &amp; Lineage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FD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Identification · Access · Extraction · Lineage · Retention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SOP: Data Sourcing &amp; Lineage SOP v2.1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Identification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Master_Data_source_FY2025_Segment.xlsx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37515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317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0317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776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776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667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Enablement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6776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2025 PIA Approval Emails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51256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058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058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517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517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4408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Extraction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517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2025 ADIDO Load Files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rot="5400000">
            <a:off x="664997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7799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7799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258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258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8149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258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2025 Approved Metadata Templates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rot="10800000">
            <a:off x="8641080" y="2990088"/>
            <a:ext cx="146304" cy="146304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17754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9264" y="325069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Documentation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" y="3799332"/>
            <a:ext cx="2401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artifacts:  </a:t>
            </a:r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diagrams, transformation logic, lineage register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rot="5400000">
            <a:off x="3087624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15640" y="317754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1564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023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023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819144" y="325069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Management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80232" y="3799332"/>
            <a:ext cx="2401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artifacts:  </a:t>
            </a:r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schedule, refresh activity log, job logs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 rot="5400000">
            <a:off x="5937504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65520" y="317754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6552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3011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011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669024" y="325069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Retention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30112" y="3799332"/>
            <a:ext cx="243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Rahona SRZ DRD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48508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FCRM Risk Assessment FY2025 · MCC Team · Internal · Right-click any → label to add a hyperlink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20640" y="48508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Sourcing &amp; Lineage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Issue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FD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Logging · Assumptions · Issue Mgmt · Escalation · Risk Acceptance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SOP: QA &amp; Governance Standard SOP v2.1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Logging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37515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317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0317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776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776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667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Tracking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6776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51256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058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058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517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517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4408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Logging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517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rot="5400000">
            <a:off x="664997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77990" y="176022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7799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258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258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81494" y="183337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Assessment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2582" y="238201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Evidence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rot="10800000">
            <a:off x="8641080" y="2990088"/>
            <a:ext cx="146304" cy="146304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17754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9264" y="325069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Pathways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" y="379933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Evidence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rot="5400000">
            <a:off x="2375154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03170" y="317754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0317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6776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6776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106674" y="325069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&amp; Unblocking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667762" y="379933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Evidence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 rot="5400000">
            <a:off x="4512564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40580" y="317754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4058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517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517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44084" y="325069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Acceptance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05172" y="379933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Evidence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 rot="5400000">
            <a:off x="6649974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77990" y="3177540"/>
            <a:ext cx="200025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7799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4258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258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381494" y="3250692"/>
            <a:ext cx="128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Decommissioning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42582" y="3799332"/>
            <a:ext cx="17259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Evidence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65760" y="48508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FCRM Risk Assessment FY2025 · MCC Team · Internal · Right-click any → label to add a hyperlink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48508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Issue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&amp; Security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FD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PIAs · Access Control · Retention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SOP: Access Control SOP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6888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256032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254203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 Initiation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090672"/>
            <a:ext cx="243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Canada Privacy Impact Assessment (PIA)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5400000">
            <a:off x="3087624" y="299923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5640" y="246888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5640" y="246888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0232" y="256032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0232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19144" y="254203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Request &amp; Approval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0232" y="3090672"/>
            <a:ext cx="243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Request PIA for AZ Load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0232" y="3310128"/>
            <a:ext cx="243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DAC – Submitted PIAs Canada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937504" y="299923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65520" y="246888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65520" y="246888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0112" y="256032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0112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69024" y="254203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Matrix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0112" y="3090672"/>
            <a:ext cx="243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Canada Foundational Tracker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8508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FCRM Risk Assessment FY2025 · MCC Team · Internal · Right-click any → label to add a hyperlink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20640" y="48508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&amp; Security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FD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Tickets · Git Version Control · Approvals · Deployment · Rollback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SOP: Change Management SOP v1.1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6022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183337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382012"/>
            <a:ext cx="243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Data Delivery CAN – Agile Board – JIRA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5400000">
            <a:off x="308762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5640" y="176022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564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023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023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19144" y="183337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Assessment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0232" y="2382012"/>
            <a:ext cx="243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Data Delivery CAN – Agile Board – JIRA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rot="5400000">
            <a:off x="5937504" y="229057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65520" y="176022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65520" y="176022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0112" y="185166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0112" y="1851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69024" y="183337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Approval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0112" y="2382012"/>
            <a:ext cx="243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Data Delivery CAN – Agile Board – JIRA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rot="10800000">
            <a:off x="8641080" y="2990088"/>
            <a:ext cx="146304" cy="146304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17754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9264" y="325069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" y="3799332"/>
            <a:ext cx="243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github.com/TD-Universe/RAFY2025_CA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rot="5400000">
            <a:off x="3087624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15640" y="317754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1564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023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023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819144" y="325069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Update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80232" y="3799332"/>
            <a:ext cx="243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03 Metric Delivery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rot="5400000">
            <a:off x="5937504" y="3707892"/>
            <a:ext cx="118872" cy="128016"/>
          </a:xfrm>
          <a:prstGeom prst="rtTriangl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65520" y="3177540"/>
            <a:ext cx="2712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65520" y="3177540"/>
            <a:ext cx="73152" cy="11887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30112" y="3268980"/>
            <a:ext cx="384048" cy="38404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0112" y="32689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69024" y="3250692"/>
            <a:ext cx="1999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Change Logging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30112" y="3799332"/>
            <a:ext cx="243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5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Scope Statement of Work (Live).docx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8508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FCRM Risk Assessment FY2025 · MCC Team · Internal · Right-click any → label to add a hyperlink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20640" y="48508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FCRM RA FY2025 — Process Workflows</dc:title>
  <dc:subject>PptxGenJS Presentation</dc:subject>
  <dc:creator>MCC Team</dc:creator>
  <cp:lastModifiedBy>MCC Team</cp:lastModifiedBy>
  <cp:revision>1</cp:revision>
  <dcterms:created xsi:type="dcterms:W3CDTF">2026-05-28T13:25:40Z</dcterms:created>
  <dcterms:modified xsi:type="dcterms:W3CDTF">2026-05-28T13:25:40Z</dcterms:modified>
</cp:coreProperties>
</file>